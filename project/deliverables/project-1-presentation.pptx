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1"/>
  </p:notesMasterIdLst>
  <p:sldIdLst>
    <p:sldId id="256" r:id="rId2"/>
    <p:sldId id="259" r:id="rId3"/>
    <p:sldId id="265" r:id="rId4"/>
    <p:sldId id="263" r:id="rId5"/>
    <p:sldId id="264" r:id="rId6"/>
    <p:sldId id="262" r:id="rId7"/>
    <p:sldId id="258" r:id="rId8"/>
    <p:sldId id="261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156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8A6193-9062-4318-8F3B-E1AE92FECAA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99717F1-EF47-4DB7-BA7D-F9D1E5A611DF}">
      <dgm:prSet/>
      <dgm:spPr/>
      <dgm:t>
        <a:bodyPr/>
        <a:lstStyle/>
        <a:p>
          <a:r>
            <a:rPr lang="en-US" dirty="0"/>
            <a:t>LAN access only</a:t>
          </a:r>
        </a:p>
      </dgm:t>
    </dgm:pt>
    <dgm:pt modelId="{9F139909-451C-4528-8E84-93EEB2554748}" type="parTrans" cxnId="{3510002F-12B0-4E8B-A19E-C014188061AF}">
      <dgm:prSet/>
      <dgm:spPr/>
      <dgm:t>
        <a:bodyPr/>
        <a:lstStyle/>
        <a:p>
          <a:endParaRPr lang="en-US"/>
        </a:p>
      </dgm:t>
    </dgm:pt>
    <dgm:pt modelId="{54243853-3FBC-4AB4-BC14-614A4501CE59}" type="sibTrans" cxnId="{3510002F-12B0-4E8B-A19E-C014188061AF}">
      <dgm:prSet/>
      <dgm:spPr/>
      <dgm:t>
        <a:bodyPr/>
        <a:lstStyle/>
        <a:p>
          <a:endParaRPr lang="en-US"/>
        </a:p>
      </dgm:t>
    </dgm:pt>
    <dgm:pt modelId="{AD809C12-F64A-4660-B011-A680B82CEE7A}">
      <dgm:prSet/>
      <dgm:spPr/>
      <dgm:t>
        <a:bodyPr/>
        <a:lstStyle/>
        <a:p>
          <a:r>
            <a:rPr lang="en-US" dirty="0"/>
            <a:t>I live alone</a:t>
          </a:r>
        </a:p>
      </dgm:t>
    </dgm:pt>
    <dgm:pt modelId="{74F7D231-0FD9-4DF1-B4C8-61CA8A2115D6}" type="parTrans" cxnId="{5BD52022-A919-4E05-8A26-EEF1C160B609}">
      <dgm:prSet/>
      <dgm:spPr/>
      <dgm:t>
        <a:bodyPr/>
        <a:lstStyle/>
        <a:p>
          <a:endParaRPr lang="en-US"/>
        </a:p>
      </dgm:t>
    </dgm:pt>
    <dgm:pt modelId="{4BB268A7-95BD-44C2-8F53-F0268937B780}" type="sibTrans" cxnId="{5BD52022-A919-4E05-8A26-EEF1C160B609}">
      <dgm:prSet/>
      <dgm:spPr/>
      <dgm:t>
        <a:bodyPr/>
        <a:lstStyle/>
        <a:p>
          <a:endParaRPr lang="en-US"/>
        </a:p>
      </dgm:t>
    </dgm:pt>
    <dgm:pt modelId="{C78A87B5-E2FC-4AA5-AF1B-1C1A3936298A}">
      <dgm:prSet/>
      <dgm:spPr/>
      <dgm:t>
        <a:bodyPr/>
        <a:lstStyle/>
        <a:p>
          <a:r>
            <a:rPr lang="en-US" dirty="0"/>
            <a:t>Hosted on my hardware </a:t>
          </a:r>
          <a:r>
            <a:rPr lang="en-US" i="1" dirty="0"/>
            <a:t>for</a:t>
          </a:r>
          <a:r>
            <a:rPr lang="en-US" dirty="0"/>
            <a:t> my hardware</a:t>
          </a:r>
        </a:p>
      </dgm:t>
    </dgm:pt>
    <dgm:pt modelId="{4D7D8551-433E-4AA1-AD95-CFF4BFD17178}" type="parTrans" cxnId="{4C9434C7-866F-4CCC-9A21-BDBC37C7B2B0}">
      <dgm:prSet/>
      <dgm:spPr/>
      <dgm:t>
        <a:bodyPr/>
        <a:lstStyle/>
        <a:p>
          <a:endParaRPr lang="en-US"/>
        </a:p>
      </dgm:t>
    </dgm:pt>
    <dgm:pt modelId="{00865795-1295-4CC8-A62A-8DC2F9E12566}" type="sibTrans" cxnId="{4C9434C7-866F-4CCC-9A21-BDBC37C7B2B0}">
      <dgm:prSet/>
      <dgm:spPr/>
      <dgm:t>
        <a:bodyPr/>
        <a:lstStyle/>
        <a:p>
          <a:endParaRPr lang="en-US"/>
        </a:p>
      </dgm:t>
    </dgm:pt>
    <dgm:pt modelId="{2B814426-F9B2-4E27-A711-494C1343065D}" type="pres">
      <dgm:prSet presAssocID="{938A6193-9062-4318-8F3B-E1AE92FECAA7}" presName="linear" presStyleCnt="0">
        <dgm:presLayoutVars>
          <dgm:animLvl val="lvl"/>
          <dgm:resizeHandles val="exact"/>
        </dgm:presLayoutVars>
      </dgm:prSet>
      <dgm:spPr/>
    </dgm:pt>
    <dgm:pt modelId="{75385FC5-C432-45AE-B1FE-A378E10BC321}" type="pres">
      <dgm:prSet presAssocID="{B99717F1-EF47-4DB7-BA7D-F9D1E5A611D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E8D796-FA9A-4340-8982-E1A1CAD9DBA5}" type="pres">
      <dgm:prSet presAssocID="{54243853-3FBC-4AB4-BC14-614A4501CE59}" presName="spacer" presStyleCnt="0"/>
      <dgm:spPr/>
    </dgm:pt>
    <dgm:pt modelId="{23C3C53D-FCA8-4989-BBE4-0808429219FF}" type="pres">
      <dgm:prSet presAssocID="{AD809C12-F64A-4660-B011-A680B82CEE7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FE53D99-9426-440C-BFE3-71CE4593AA63}" type="pres">
      <dgm:prSet presAssocID="{4BB268A7-95BD-44C2-8F53-F0268937B780}" presName="spacer" presStyleCnt="0"/>
      <dgm:spPr/>
    </dgm:pt>
    <dgm:pt modelId="{D1CF427F-0BE6-4B32-9731-A2F903E2AF72}" type="pres">
      <dgm:prSet presAssocID="{C78A87B5-E2FC-4AA5-AF1B-1C1A393629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F3E2021-FA23-4FFC-91A9-D13167DF9F87}" type="presOf" srcId="{C78A87B5-E2FC-4AA5-AF1B-1C1A3936298A}" destId="{D1CF427F-0BE6-4B32-9731-A2F903E2AF72}" srcOrd="0" destOrd="0" presId="urn:microsoft.com/office/officeart/2005/8/layout/vList2"/>
    <dgm:cxn modelId="{5BD52022-A919-4E05-8A26-EEF1C160B609}" srcId="{938A6193-9062-4318-8F3B-E1AE92FECAA7}" destId="{AD809C12-F64A-4660-B011-A680B82CEE7A}" srcOrd="1" destOrd="0" parTransId="{74F7D231-0FD9-4DF1-B4C8-61CA8A2115D6}" sibTransId="{4BB268A7-95BD-44C2-8F53-F0268937B780}"/>
    <dgm:cxn modelId="{3510002F-12B0-4E8B-A19E-C014188061AF}" srcId="{938A6193-9062-4318-8F3B-E1AE92FECAA7}" destId="{B99717F1-EF47-4DB7-BA7D-F9D1E5A611DF}" srcOrd="0" destOrd="0" parTransId="{9F139909-451C-4528-8E84-93EEB2554748}" sibTransId="{54243853-3FBC-4AB4-BC14-614A4501CE59}"/>
    <dgm:cxn modelId="{0F0F0692-86C8-4FC1-91C7-AAF54E6E7613}" type="presOf" srcId="{B99717F1-EF47-4DB7-BA7D-F9D1E5A611DF}" destId="{75385FC5-C432-45AE-B1FE-A378E10BC321}" srcOrd="0" destOrd="0" presId="urn:microsoft.com/office/officeart/2005/8/layout/vList2"/>
    <dgm:cxn modelId="{4C9434C7-866F-4CCC-9A21-BDBC37C7B2B0}" srcId="{938A6193-9062-4318-8F3B-E1AE92FECAA7}" destId="{C78A87B5-E2FC-4AA5-AF1B-1C1A3936298A}" srcOrd="2" destOrd="0" parTransId="{4D7D8551-433E-4AA1-AD95-CFF4BFD17178}" sibTransId="{00865795-1295-4CC8-A62A-8DC2F9E12566}"/>
    <dgm:cxn modelId="{A2EEDDE7-B349-4F1C-B059-B5162A5E7763}" type="presOf" srcId="{AD809C12-F64A-4660-B011-A680B82CEE7A}" destId="{23C3C53D-FCA8-4989-BBE4-0808429219FF}" srcOrd="0" destOrd="0" presId="urn:microsoft.com/office/officeart/2005/8/layout/vList2"/>
    <dgm:cxn modelId="{59F2E4E8-C9BA-4AEE-9F22-D51BF89A08C0}" type="presOf" srcId="{938A6193-9062-4318-8F3B-E1AE92FECAA7}" destId="{2B814426-F9B2-4E27-A711-494C1343065D}" srcOrd="0" destOrd="0" presId="urn:microsoft.com/office/officeart/2005/8/layout/vList2"/>
    <dgm:cxn modelId="{100C52EC-C111-4484-AB0D-588FFB1C83B9}" type="presParOf" srcId="{2B814426-F9B2-4E27-A711-494C1343065D}" destId="{75385FC5-C432-45AE-B1FE-A378E10BC321}" srcOrd="0" destOrd="0" presId="urn:microsoft.com/office/officeart/2005/8/layout/vList2"/>
    <dgm:cxn modelId="{567527AD-4E53-4DB0-8996-F2767A7641D7}" type="presParOf" srcId="{2B814426-F9B2-4E27-A711-494C1343065D}" destId="{C8E8D796-FA9A-4340-8982-E1A1CAD9DBA5}" srcOrd="1" destOrd="0" presId="urn:microsoft.com/office/officeart/2005/8/layout/vList2"/>
    <dgm:cxn modelId="{DD81EBD1-2B7A-4FEC-9B34-001E26ADC097}" type="presParOf" srcId="{2B814426-F9B2-4E27-A711-494C1343065D}" destId="{23C3C53D-FCA8-4989-BBE4-0808429219FF}" srcOrd="2" destOrd="0" presId="urn:microsoft.com/office/officeart/2005/8/layout/vList2"/>
    <dgm:cxn modelId="{E4375C01-C45B-4E41-BD1C-6BDB5DB74D6D}" type="presParOf" srcId="{2B814426-F9B2-4E27-A711-494C1343065D}" destId="{1FE53D99-9426-440C-BFE3-71CE4593AA63}" srcOrd="3" destOrd="0" presId="urn:microsoft.com/office/officeart/2005/8/layout/vList2"/>
    <dgm:cxn modelId="{96FDA87E-4ADE-4827-9525-63204AA536A1}" type="presParOf" srcId="{2B814426-F9B2-4E27-A711-494C1343065D}" destId="{D1CF427F-0BE6-4B32-9731-A2F903E2AF7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85FC5-C432-45AE-B1FE-A378E10BC321}">
      <dsp:nvSpPr>
        <dsp:cNvPr id="0" name=""/>
        <dsp:cNvSpPr/>
      </dsp:nvSpPr>
      <dsp:spPr>
        <a:xfrm>
          <a:off x="0" y="28858"/>
          <a:ext cx="6620255" cy="155902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LAN access only</a:t>
          </a:r>
        </a:p>
      </dsp:txBody>
      <dsp:txXfrm>
        <a:off x="76105" y="104963"/>
        <a:ext cx="6468045" cy="1406815"/>
      </dsp:txXfrm>
    </dsp:sp>
    <dsp:sp modelId="{23C3C53D-FCA8-4989-BBE4-0808429219FF}">
      <dsp:nvSpPr>
        <dsp:cNvPr id="0" name=""/>
        <dsp:cNvSpPr/>
      </dsp:nvSpPr>
      <dsp:spPr>
        <a:xfrm>
          <a:off x="0" y="1703083"/>
          <a:ext cx="6620255" cy="1559025"/>
        </a:xfrm>
        <a:prstGeom prst="roundRect">
          <a:avLst/>
        </a:prstGeom>
        <a:solidFill>
          <a:schemeClr val="accent2">
            <a:hueOff val="-5184504"/>
            <a:satOff val="-10204"/>
            <a:lumOff val="637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I live alone</a:t>
          </a:r>
        </a:p>
      </dsp:txBody>
      <dsp:txXfrm>
        <a:off x="76105" y="1779188"/>
        <a:ext cx="6468045" cy="1406815"/>
      </dsp:txXfrm>
    </dsp:sp>
    <dsp:sp modelId="{D1CF427F-0BE6-4B32-9731-A2F903E2AF72}">
      <dsp:nvSpPr>
        <dsp:cNvPr id="0" name=""/>
        <dsp:cNvSpPr/>
      </dsp:nvSpPr>
      <dsp:spPr>
        <a:xfrm>
          <a:off x="0" y="3377308"/>
          <a:ext cx="6620255" cy="1559025"/>
        </a:xfrm>
        <a:prstGeom prst="roundRect">
          <a:avLst/>
        </a:prstGeom>
        <a:solidFill>
          <a:schemeClr val="accent2">
            <a:hueOff val="-10369007"/>
            <a:satOff val="-20408"/>
            <a:lumOff val="127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Hosted on my hardware </a:t>
          </a:r>
          <a:r>
            <a:rPr lang="en-US" sz="4000" i="1" kern="1200" dirty="0"/>
            <a:t>for</a:t>
          </a:r>
          <a:r>
            <a:rPr lang="en-US" sz="4000" kern="1200" dirty="0"/>
            <a:t> my hardware</a:t>
          </a:r>
        </a:p>
      </dsp:txBody>
      <dsp:txXfrm>
        <a:off x="76105" y="3453413"/>
        <a:ext cx="6468045" cy="14068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C5932-A9E7-47B5-911F-CB180FF6DBC0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E707C-EF2B-4149-BDBB-FA5A302A0C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4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1E707C-EF2B-4149-BDBB-FA5A302A0CC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83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925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42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82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197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31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601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200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35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897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22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25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43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!!Morph">
            <a:extLst>
              <a:ext uri="{FF2B5EF4-FFF2-40B4-BE49-F238E27FC236}">
                <a16:creationId xmlns:a16="http://schemas.microsoft.com/office/drawing/2014/main" id="{475F107B-2364-C2A1-A9D9-09736BDAAD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7561" b="2130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AB476BF-4EE2-5243-CABB-6CC72C39B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4A7637-BC1E-EFA9-D710-83796ECA5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06780" y="978409"/>
            <a:ext cx="4496529" cy="3678268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6000" dirty="0"/>
              <a:t>Personal</a:t>
            </a:r>
            <a:br>
              <a:rPr lang="en-US" sz="6000" dirty="0"/>
            </a:br>
            <a:r>
              <a:rPr lang="en-US" sz="6000" dirty="0" err="1"/>
              <a:t>Homelab</a:t>
            </a:r>
            <a:r>
              <a:rPr lang="en-US" sz="6000" dirty="0"/>
              <a:t>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11D9B-279D-FCF3-12C7-F20A7C9CF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3288" y="4729138"/>
            <a:ext cx="4488812" cy="1150453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anchor="b">
            <a:normAutofit/>
          </a:bodyPr>
          <a:lstStyle/>
          <a:p>
            <a:r>
              <a:rPr lang="en-US" dirty="0"/>
              <a:t>Dante Razo</a:t>
            </a:r>
          </a:p>
          <a:p>
            <a:r>
              <a:rPr lang="en-US" dirty="0"/>
              <a:t>SEIS 606 FA26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D28EA4-6F96-F7C6-1D07-5BA5C27387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6781" y="508090"/>
            <a:ext cx="449275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FF93C5-0576-D227-80A7-4CFBA8791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10119" y="6209925"/>
            <a:ext cx="449275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036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E3B10307-26A0-B3FB-6C7F-8516D9C1E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359978" cy="1463040"/>
          </a:xfrm>
        </p:spPr>
        <p:txBody>
          <a:bodyPr/>
          <a:lstStyle/>
          <a:p>
            <a:r>
              <a:rPr lang="en-US" dirty="0"/>
              <a:t>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93D6-F7A9-D24F-9614-D62F9CFE7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03379" cy="3767328"/>
          </a:xfrm>
        </p:spPr>
        <p:txBody>
          <a:bodyPr/>
          <a:lstStyle/>
          <a:p>
            <a:r>
              <a:rPr lang="en-US" dirty="0"/>
              <a:t>A single place to view cluster status</a:t>
            </a:r>
          </a:p>
          <a:p>
            <a:r>
              <a:rPr lang="en-US" dirty="0"/>
              <a:t>Frutiger Aero</a:t>
            </a:r>
          </a:p>
          <a:p>
            <a:pPr lvl="1"/>
            <a:r>
              <a:rPr lang="en-US" dirty="0"/>
              <a:t>Nostalgic</a:t>
            </a:r>
          </a:p>
          <a:p>
            <a:pPr lvl="1"/>
            <a:r>
              <a:rPr lang="en-US" dirty="0"/>
              <a:t>Whimsical</a:t>
            </a:r>
          </a:p>
          <a:p>
            <a:pPr lvl="1"/>
            <a:r>
              <a:rPr lang="en-US" dirty="0"/>
              <a:t>Beautiful</a:t>
            </a:r>
          </a:p>
          <a:p>
            <a:pPr lvl="1"/>
            <a:r>
              <a:rPr lang="en-US" dirty="0"/>
              <a:t>Elegant</a:t>
            </a:r>
          </a:p>
          <a:p>
            <a:pPr lvl="1"/>
            <a:r>
              <a:rPr lang="en-US" dirty="0"/>
              <a:t>Sensational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!!Morph">
            <a:extLst>
              <a:ext uri="{FF2B5EF4-FFF2-40B4-BE49-F238E27FC236}">
                <a16:creationId xmlns:a16="http://schemas.microsoft.com/office/drawing/2014/main" id="{1F1F5993-AE3E-71FC-B869-B120E7156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0983" y="1226127"/>
            <a:ext cx="5157930" cy="5057637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9453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68F4-1F0A-4490-6EC7-3F6117215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Title">
            <a:extLst>
              <a:ext uri="{FF2B5EF4-FFF2-40B4-BE49-F238E27FC236}">
                <a16:creationId xmlns:a16="http://schemas.microsoft.com/office/drawing/2014/main" id="{E318687A-0B3E-7E64-1AB7-91F48411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2958775" cy="1463040"/>
          </a:xfrm>
        </p:spPr>
        <p:txBody>
          <a:bodyPr/>
          <a:lstStyle/>
          <a:p>
            <a:r>
              <a:rPr lang="en-US" dirty="0"/>
              <a:t>What?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19630-3EFD-BDAC-A593-7C3FA2163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3261083" cy="3767328"/>
          </a:xfrm>
        </p:spPr>
        <p:txBody>
          <a:bodyPr/>
          <a:lstStyle/>
          <a:p>
            <a:r>
              <a:rPr lang="en-US" dirty="0"/>
              <a:t>A single place to view cluster status</a:t>
            </a:r>
          </a:p>
          <a:p>
            <a:r>
              <a:rPr lang="en-US" dirty="0"/>
              <a:t>Frutiger Aero</a:t>
            </a:r>
          </a:p>
          <a:p>
            <a:pPr lvl="1"/>
            <a:r>
              <a:rPr lang="en-US" dirty="0"/>
              <a:t>Nostalgic</a:t>
            </a:r>
          </a:p>
          <a:p>
            <a:pPr lvl="1"/>
            <a:r>
              <a:rPr lang="en-US" dirty="0"/>
              <a:t>Whimsical</a:t>
            </a:r>
          </a:p>
          <a:p>
            <a:pPr lvl="1"/>
            <a:r>
              <a:rPr lang="en-US" dirty="0"/>
              <a:t>Beautiful</a:t>
            </a:r>
          </a:p>
          <a:p>
            <a:pPr lvl="1"/>
            <a:r>
              <a:rPr lang="en-US" dirty="0"/>
              <a:t>Elegant</a:t>
            </a:r>
          </a:p>
          <a:p>
            <a:pPr lvl="1"/>
            <a:r>
              <a:rPr lang="en-US" dirty="0"/>
              <a:t>Sensational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!!Morph">
            <a:extLst>
              <a:ext uri="{FF2B5EF4-FFF2-40B4-BE49-F238E27FC236}">
                <a16:creationId xmlns:a16="http://schemas.microsoft.com/office/drawing/2014/main" id="{FF0F68E2-1055-8890-EB16-92A512D3C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880" t="8037" r="14705" b="14886"/>
          <a:stretch>
            <a:fillRect/>
          </a:stretch>
        </p:blipFill>
        <p:spPr>
          <a:xfrm>
            <a:off x="3836047" y="1222663"/>
            <a:ext cx="7834745" cy="476360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063779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351759-2A04-DF91-B0CA-B0D01E741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3BED2-69CB-E8B2-6CC0-5986ABA808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5029200" cy="3767328"/>
          </a:xfrm>
        </p:spPr>
        <p:txBody>
          <a:bodyPr>
            <a:normAutofit/>
          </a:bodyPr>
          <a:lstStyle/>
          <a:p>
            <a:r>
              <a:rPr lang="en-US" dirty="0"/>
              <a:t>My cluster is my pride and joy</a:t>
            </a:r>
          </a:p>
          <a:p>
            <a:r>
              <a:rPr lang="en-US" dirty="0"/>
              <a:t>My cluster is my burden</a:t>
            </a:r>
          </a:p>
          <a:p>
            <a:r>
              <a:rPr lang="en-US" dirty="0"/>
              <a:t>Too many machines, not enough time</a:t>
            </a:r>
          </a:p>
          <a:p>
            <a:r>
              <a:rPr lang="en-US" dirty="0"/>
              <a:t>Divine retribution (more hardware, more problems)</a:t>
            </a:r>
          </a:p>
          <a:p>
            <a:r>
              <a:rPr lang="en-US" dirty="0"/>
              <a:t>I was going to make one anyway</a:t>
            </a:r>
          </a:p>
        </p:txBody>
      </p:sp>
      <p:pic>
        <p:nvPicPr>
          <p:cNvPr id="5" name="trashcan">
            <a:extLst>
              <a:ext uri="{FF2B5EF4-FFF2-40B4-BE49-F238E27FC236}">
                <a16:creationId xmlns:a16="http://schemas.microsoft.com/office/drawing/2014/main" id="{E2D7C193-261E-3C1B-1D20-BE946D68B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60" r="21148" b="560"/>
          <a:stretch>
            <a:fillRect/>
          </a:stretch>
        </p:blipFill>
        <p:spPr>
          <a:xfrm rot="5400000">
            <a:off x="8921682" y="577036"/>
            <a:ext cx="2822297" cy="2684411"/>
          </a:xfrm>
          <a:prstGeom prst="rect">
            <a:avLst/>
          </a:prstGeom>
        </p:spPr>
      </p:pic>
      <p:pic>
        <p:nvPicPr>
          <p:cNvPr id="7" name="cerulean">
            <a:extLst>
              <a:ext uri="{FF2B5EF4-FFF2-40B4-BE49-F238E27FC236}">
                <a16:creationId xmlns:a16="http://schemas.microsoft.com/office/drawing/2014/main" id="{62D35528-2126-2ED9-00A5-13D39721A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27" b="3420"/>
          <a:stretch>
            <a:fillRect/>
          </a:stretch>
        </p:blipFill>
        <p:spPr>
          <a:xfrm>
            <a:off x="6120940" y="3516661"/>
            <a:ext cx="2684411" cy="2822298"/>
          </a:xfrm>
          <a:prstGeom prst="rect">
            <a:avLst/>
          </a:prstGeom>
        </p:spPr>
      </p:pic>
      <p:pic>
        <p:nvPicPr>
          <p:cNvPr id="9" name="kex">
            <a:extLst>
              <a:ext uri="{FF2B5EF4-FFF2-40B4-BE49-F238E27FC236}">
                <a16:creationId xmlns:a16="http://schemas.microsoft.com/office/drawing/2014/main" id="{957AE0E3-A2E7-280E-820B-02F61FAE0C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" r="28138" b="4"/>
          <a:stretch>
            <a:fillRect/>
          </a:stretch>
        </p:blipFill>
        <p:spPr>
          <a:xfrm>
            <a:off x="8990625" y="3516661"/>
            <a:ext cx="2684411" cy="2822298"/>
          </a:xfrm>
          <a:prstGeom prst="rect">
            <a:avLst/>
          </a:prstGeom>
        </p:spPr>
      </p:pic>
      <p:pic>
        <p:nvPicPr>
          <p:cNvPr id="11" name="!!Morph">
            <a:extLst>
              <a:ext uri="{FF2B5EF4-FFF2-40B4-BE49-F238E27FC236}">
                <a16:creationId xmlns:a16="http://schemas.microsoft.com/office/drawing/2014/main" id="{E237319E-84A2-2CBC-4E88-1CD71872B0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35" t="-1134" r="19333" b="1138"/>
          <a:stretch>
            <a:fillRect/>
          </a:stretch>
        </p:blipFill>
        <p:spPr>
          <a:xfrm>
            <a:off x="6120940" y="508093"/>
            <a:ext cx="2684411" cy="2822297"/>
          </a:xfrm>
          <a:prstGeom prst="rect">
            <a:avLst/>
          </a:prstGeom>
        </p:spPr>
      </p:pic>
      <p:sp>
        <p:nvSpPr>
          <p:cNvPr id="2" name="!!Title">
            <a:extLst>
              <a:ext uri="{FF2B5EF4-FFF2-40B4-BE49-F238E27FC236}">
                <a16:creationId xmlns:a16="http://schemas.microsoft.com/office/drawing/2014/main" id="{4EF6ED35-F06A-FB09-2F56-D99548C04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9200" cy="1463040"/>
          </a:xfrm>
        </p:spPr>
        <p:txBody>
          <a:bodyPr>
            <a:normAutofit/>
          </a:bodyPr>
          <a:lstStyle/>
          <a:p>
            <a:r>
              <a:rPr lang="en-US" dirty="0"/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357542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7326BB-A697-4A9E-8075-A07BC50A4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6E753D-F9AC-7F2E-417D-041C7958A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324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How?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!!Morph">
            <a:extLst>
              <a:ext uri="{FF2B5EF4-FFF2-40B4-BE49-F238E27FC236}">
                <a16:creationId xmlns:a16="http://schemas.microsoft.com/office/drawing/2014/main" id="{383A5F5C-9F97-D6E0-5101-47E111AD4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0"/>
          <a:stretch>
            <a:fillRect/>
          </a:stretch>
        </p:blipFill>
        <p:spPr>
          <a:xfrm>
            <a:off x="560045" y="976160"/>
            <a:ext cx="4281670" cy="537892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A14A7-1CA9-3553-F0AD-4526DF090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3248" y="2578608"/>
            <a:ext cx="6263640" cy="3767328"/>
          </a:xfrm>
        </p:spPr>
        <p:txBody>
          <a:bodyPr>
            <a:normAutofit/>
          </a:bodyPr>
          <a:lstStyle/>
          <a:p>
            <a:r>
              <a:rPr lang="en-US" dirty="0"/>
              <a:t>Copilot-as-a-service</a:t>
            </a:r>
          </a:p>
          <a:p>
            <a:pPr lvl="1"/>
            <a:r>
              <a:rPr lang="en-US" dirty="0"/>
              <a:t>Copilot Student, initially</a:t>
            </a:r>
          </a:p>
          <a:p>
            <a:r>
              <a:rPr lang="en-US" dirty="0"/>
              <a:t>Copilot-as-a-harness</a:t>
            </a:r>
          </a:p>
          <a:p>
            <a:pPr lvl="1"/>
            <a:r>
              <a:rPr lang="en-US" dirty="0"/>
              <a:t>An RTX 5090. 32GB and a dream</a:t>
            </a:r>
          </a:p>
          <a:p>
            <a:pPr lvl="1"/>
            <a:r>
              <a:rPr lang="en-US" b="1" dirty="0"/>
              <a:t>Qwen3.8 27B </a:t>
            </a:r>
            <a:r>
              <a:rPr lang="en-US" dirty="0"/>
              <a:t>@ Q4_K_M</a:t>
            </a:r>
            <a:endParaRPr lang="en-US" b="1" dirty="0"/>
          </a:p>
          <a:p>
            <a:pPr lvl="2"/>
            <a:r>
              <a:rPr lang="en-US" dirty="0"/>
              <a:t>The greatest overthinker of our time</a:t>
            </a:r>
          </a:p>
          <a:p>
            <a:pPr lvl="2"/>
            <a:r>
              <a:rPr lang="en-US" dirty="0"/>
              <a:t>Only briefly</a:t>
            </a:r>
          </a:p>
          <a:p>
            <a:pPr lvl="1"/>
            <a:r>
              <a:rPr lang="en-US" b="1" dirty="0"/>
              <a:t>Gemma4 26B A4B QAT </a:t>
            </a:r>
            <a:r>
              <a:rPr lang="en-US" dirty="0"/>
              <a:t>@ Q4</a:t>
            </a:r>
            <a:endParaRPr lang="en-US" b="1" dirty="0"/>
          </a:p>
          <a:p>
            <a:pPr lvl="2"/>
            <a:r>
              <a:rPr lang="en-US" dirty="0"/>
              <a:t>Independent AI review</a:t>
            </a:r>
          </a:p>
        </p:txBody>
      </p:sp>
    </p:spTree>
    <p:extLst>
      <p:ext uri="{BB962C8B-B14F-4D97-AF65-F5344CB8AC3E}">
        <p14:creationId xmlns:p14="http://schemas.microsoft.com/office/powerpoint/2010/main" val="1537086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Red threads and scribbles">
            <a:extLst>
              <a:ext uri="{FF2B5EF4-FFF2-40B4-BE49-F238E27FC236}">
                <a16:creationId xmlns:a16="http://schemas.microsoft.com/office/drawing/2014/main" id="{4C4F4786-1E0E-7157-5D64-C9AC2D509D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0714"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6A618-9933-B942-7DB2-07CFC419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6252448" cy="2450592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rgbClr val="FFFFFF"/>
                </a:solidFill>
              </a:rPr>
              <a:t>Live Demo on Proxmox Cluster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55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C79BCF-24E8-07AF-563A-DBA68B5D5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Security by </a:t>
            </a:r>
            <a:r>
              <a:rPr lang="en-US" strike="sngStrike" dirty="0"/>
              <a:t>Ignorance</a:t>
            </a:r>
            <a:r>
              <a:rPr lang="en-US" dirty="0"/>
              <a:t> Obscurity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D55E6C-55BE-26CB-B7A8-ACCD79C94F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833635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84714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51A09-C8C4-AB65-D3E0-E3CDEEF93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/>
              <a:t>What’s Next?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78EA282-4E18-2B98-FF4F-F15B80D6A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867" y="1232328"/>
            <a:ext cx="4959823" cy="438944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0066E93-3C37-F02E-8ABE-C27D261E18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3912" y="2578608"/>
            <a:ext cx="5513832" cy="3767328"/>
          </a:xfrm>
        </p:spPr>
        <p:txBody>
          <a:bodyPr>
            <a:normAutofit/>
          </a:bodyPr>
          <a:lstStyle/>
          <a:p>
            <a:r>
              <a:rPr lang="en-US" dirty="0"/>
              <a:t>Hosted in a dedicated LXC</a:t>
            </a:r>
          </a:p>
          <a:p>
            <a:r>
              <a:rPr lang="en-US" dirty="0"/>
              <a:t>Reverse proxied by Caddy</a:t>
            </a:r>
          </a:p>
          <a:p>
            <a:r>
              <a:rPr lang="en-US" dirty="0"/>
              <a:t>Passkeys (OAuth2 / </a:t>
            </a:r>
            <a:r>
              <a:rPr lang="en-US" dirty="0" err="1"/>
              <a:t>WebAuthn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Served by LXC 100 (pocket-id)</a:t>
            </a:r>
          </a:p>
          <a:p>
            <a:pPr lvl="1"/>
            <a:r>
              <a:rPr lang="en-US" dirty="0"/>
              <a:t>Requires HTTPS, and Caddy by extension</a:t>
            </a:r>
          </a:p>
          <a:p>
            <a:r>
              <a:rPr lang="en-US" dirty="0"/>
              <a:t>LLM integration</a:t>
            </a:r>
          </a:p>
          <a:p>
            <a:pPr lvl="1"/>
            <a:r>
              <a:rPr lang="en-US" dirty="0"/>
              <a:t>Active, occasional monitoring</a:t>
            </a:r>
          </a:p>
          <a:p>
            <a:pPr lvl="1"/>
            <a:r>
              <a:rPr lang="en-US" dirty="0"/>
              <a:t>Nuanced answers vs. deterministic decision trees</a:t>
            </a:r>
          </a:p>
          <a:p>
            <a:pPr lvl="2"/>
            <a:r>
              <a:rPr lang="en-US" dirty="0"/>
              <a:t>e.g. critical SMART data</a:t>
            </a:r>
          </a:p>
        </p:txBody>
      </p:sp>
    </p:spTree>
    <p:extLst>
      <p:ext uri="{BB962C8B-B14F-4D97-AF65-F5344CB8AC3E}">
        <p14:creationId xmlns:p14="http://schemas.microsoft.com/office/powerpoint/2010/main" val="1933863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3E93A4-A3D7-B7AB-9E8E-63BA8B3BF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8873F53-55B7-4E34-B697-201CF2F10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548E59-61AC-3AC5-F359-07ADF462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6488" y="978408"/>
            <a:ext cx="3200400" cy="2459736"/>
          </a:xfrm>
        </p:spPr>
        <p:txBody>
          <a:bodyPr anchor="b">
            <a:normAutofit/>
          </a:bodyPr>
          <a:lstStyle/>
          <a:p>
            <a:r>
              <a:rPr lang="en-US" sz="4000"/>
              <a:t>Lessons Learned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D90D0AA-A57E-2DE9-0CE8-B7B30687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BB051-7DD0-4D0B-F323-4A4E239767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7" r="-2" b="3867"/>
          <a:stretch>
            <a:fillRect/>
          </a:stretch>
        </p:blipFill>
        <p:spPr>
          <a:xfrm>
            <a:off x="517864" y="970929"/>
            <a:ext cx="7534183" cy="5375076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72E46F-FB2D-72A0-85E6-410CC55C0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6488" y="3538728"/>
            <a:ext cx="3200400" cy="2816352"/>
          </a:xfrm>
        </p:spPr>
        <p:txBody>
          <a:bodyPr>
            <a:normAutofit/>
          </a:bodyPr>
          <a:lstStyle/>
          <a:p>
            <a:r>
              <a:rPr lang="en-US" dirty="0"/>
              <a:t>Copilot is expensive</a:t>
            </a:r>
          </a:p>
          <a:p>
            <a:r>
              <a:rPr lang="en-US" dirty="0"/>
              <a:t>Don’t get lost in the sauce</a:t>
            </a:r>
          </a:p>
          <a:p>
            <a:r>
              <a:rPr lang="en-US" dirty="0"/>
              <a:t>Think of AI as a tool for learning, not a substitute</a:t>
            </a:r>
          </a:p>
          <a:p>
            <a:r>
              <a:rPr lang="en-US" dirty="0"/>
              <a:t>Tune AI for your use case with memory, instructions, </a:t>
            </a:r>
            <a:r>
              <a:rPr lang="en-US"/>
              <a:t>style guides, etc.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633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2233</TotalTime>
  <Words>233</Words>
  <Application>Microsoft Office PowerPoint</Application>
  <PresentationFormat>Widescreen</PresentationFormat>
  <Paragraphs>57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Bierstadt</vt:lpstr>
      <vt:lpstr>Neue Haas Grotesk Text Pro</vt:lpstr>
      <vt:lpstr>GestaltVTI</vt:lpstr>
      <vt:lpstr>Personal Homelab Dashboard</vt:lpstr>
      <vt:lpstr>What?</vt:lpstr>
      <vt:lpstr>What?</vt:lpstr>
      <vt:lpstr>Why?</vt:lpstr>
      <vt:lpstr>How?</vt:lpstr>
      <vt:lpstr>Live Demo on Proxmox Cluster</vt:lpstr>
      <vt:lpstr>Security by Ignorance Obscurity</vt:lpstr>
      <vt:lpstr>What’s Next?</vt:lpstr>
      <vt:lpstr>Lessons Learned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Dante</dc:creator>
  <cp:lastModifiedBy>Dante</cp:lastModifiedBy>
  <cp:revision>50</cp:revision>
  <dcterms:created xsi:type="dcterms:W3CDTF">2026-10-19T03:10:16Z</dcterms:created>
  <dcterms:modified xsi:type="dcterms:W3CDTF">2026-10-21T22:28:35Z</dcterms:modified>
</cp:coreProperties>
</file>